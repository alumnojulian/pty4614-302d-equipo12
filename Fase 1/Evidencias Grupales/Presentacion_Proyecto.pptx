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9592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Presento mi Proyecto APT: JAMS ERP, una plataforma de gestión para contratistas que ya tiene una base funcional y que este semestre llevaré a producción con calidad certificada. La empresa asociada es SkyDigital, mi agencia digital, y el usuario piloto es mi emprendimiento de pintura, Pintor de los Cielos.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es concreto: los contratistas pequeños gestionan todo con herramientas dispersas, pierden trazabilidad y no conocen el margen real de cada obra. Los ERP del mercado no están pensados para ellos. Esto lo vivo directamente porque trabajo como contratista de pintura y cerámica.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base técnica ya existe, lo que hace el proyecto factible. El aporte del APT no es escribir más código por escribir, sino transformar el prototipo en un producto confiable: nuevo módulo de obras, pruebas formales, despliegue real y validación con usuarios.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frontend consume un API Gateway que valida el token JWT firmado con RSA y los permisos por rol. Detrás hay once microservicios; el nuevo servicio de Gestión de Obras se integra con cotizaciones por REST y por eventos Kafka. Los datos viven en PostgreSQL con migraciones Flyway, y todo se monitorea con Prometheus, Grafana, Loki y Zipkin.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proyecto cubre las cuatro competencias del perfil y todos sus indicadores de calidad. Desarrollo de software en la construcción, integración e implantación; modelos de datos en el diseño e implementación del módulo; pruebas de certificación en el plan, ejecución y mejoras; y gestión de proyectos en la planificación y control con Scrum.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 intereses son el backend y la arquitectura cloud, la IA aplicada y el emprendimiento; los tres están en JAMS. Además, el proyecto fortalece mi punto más débil, las pruebas de certificación, y me deja un producto en producción como portafolio.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objetivo general es implantar una versión productiva y certificada. Los siete específicos siguen el ciclo completo: requerimientos, datos, desarrollo, pruebas, implantación, validación y gestión. Todos son medibles, por ejemplo la cobertura mínima de 70 por ciento en servicios críticos.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Uso Scrum adaptado a un solo integrante porque el producto ya existe y debe evolucionar en incrementos validados con usuarios. Lo complemento con DevOps para integración y despliegue continuo, y con ISTQB e ISO 25010 para las pruebas. Son seis etapas; pruebas se traslapa con construcción porque se prueba desde el inicio.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carta Gantt respeta las tres fases de la asignatura. La Fase 2 concentra el desarrollo en sprints; las pruebas empiezan en la semana 9 en paralelo al desarrollo. Los hitos de control son el informe de avance, el sistema en producción en la semana 14 y el informe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evidencias de avance demuestran requerimientos, diseño de datos, construcción, diseño de pruebas y control del proyecto. Las finales demuestran la aplicación de las pruebas, la implantación real y la validación con usuarios. Todas son verificables: código, reportes automáticos y resultados del piloto.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proyecto es factible porque la base existe, tengo usuarios reales accesibles y el costo es bajo. Los principales riesgos son la carga de trabajo individual, la disponibilidad de los usuarios, el consumo de recursos y la dependencia de la API de IA; cada uno tiene una mitigación definida.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cerrar: JAMS ERP resuelve un problema real, integra las competencias de la carrera y es factible en el semestre. Quedo atento a sus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1D2E52"/>
          </a:solidFill>
          <a:ln w="12700">
            <a:solidFill>
              <a:srgbClr val="1D2E5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7132320" y="2651760"/>
            <a:ext cx="2926080" cy="2926080"/>
          </a:xfrm>
          <a:prstGeom prst="ellipse">
            <a:avLst/>
          </a:prstGeom>
          <a:solidFill>
            <a:srgbClr val="F2A541">
              <a:alpha val="20000"/>
            </a:srgbClr>
          </a:solidFill>
          <a:ln w="12700">
            <a:solidFill>
              <a:srgbClr val="F2A54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· CAPSTONE PTY4614 · FASE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JAMS ERP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Consolidación, certificación de calidad y puesta en producción de un ERP SaaS para contratistas chilenos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 Meneses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· Duoc UC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Contratistas y pymes de construcción y terminaciones · Región Metropolitana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dispersas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060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Cotizaciones, obras y cobros se gestionan con WhatsApp, planillas Excel y cuadernos.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3474720" y="1645920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347472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control del margen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6060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sabe cuánto costó realmente cada obra frente a lo presupuestado.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6263640" y="1645920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62636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fuera de alcance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6060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soluciones del mercado apuntan a empresas medianas y grandes: caras y complejas.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contratistas independientes y microempresas de 1 a 20 trabajadores que operan desde el celular. Lo vivo en primera persona como contratista de pintura.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 ERP · Proyecto APT · Capstone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solución: de prototipo a producto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 ERP ya funciona; el Proyecto APT lo lleva a producción con calidad verificada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68580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YA EXISTE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288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microservicios Spring Boot (Java 21)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Next.js 15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Cotizaciones, usuarios y roles (RBAC)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 IA Navi (LLaMA 3.3 70B)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Observabilidad: Prometheus, Grafana, Loki, Zipkin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32588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49834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HARÉ EN EL SEMESTRE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8288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con contratistas reales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módulo de Gestión de Obras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de certificación (ISTQB)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Implantación en la nube con CI/CD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con 3 contratistas y mejoras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 ERP · Proyecto APT · Capstone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la solución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con comunicación síncrona (REST) y asíncrona (Kafka)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móvil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14600" y="137160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2B4170"/>
          </a:solidFill>
          <a:ln w="12700">
            <a:solidFill>
              <a:srgbClr val="2B417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2514600" y="1371600"/>
            <a:ext cx="1737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RSA · RBAC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03120" y="1737360"/>
            <a:ext cx="411480" cy="0"/>
          </a:xfrm>
          <a:prstGeom prst="line">
            <a:avLst/>
          </a:prstGeom>
          <a:noFill/>
          <a:ln w="19050">
            <a:solidFill>
              <a:srgbClr val="14213D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4251960" y="1737360"/>
            <a:ext cx="365760" cy="0"/>
          </a:xfrm>
          <a:prstGeom prst="line">
            <a:avLst/>
          </a:prstGeom>
          <a:noFill/>
          <a:ln w="19050">
            <a:solidFill>
              <a:srgbClr val="14213D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40690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480060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MICROSERVICIOS SPRING BOOT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69164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4800600" y="1691640"/>
            <a:ext cx="1188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Cotizaciones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69164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6080760" y="1691640"/>
            <a:ext cx="1188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/ Auth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0920" y="169164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7360920" y="1691640"/>
            <a:ext cx="1188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 IA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37744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 txBox="1"/>
          <p:nvPr/>
        </p:nvSpPr>
        <p:spPr>
          <a:xfrm>
            <a:off x="4800600" y="2377440"/>
            <a:ext cx="1188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servicios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2377440"/>
            <a:ext cx="2468880" cy="548640"/>
          </a:xfrm>
          <a:prstGeom prst="roundRect">
            <a:avLst>
              <a:gd name="adj" fmla="val 1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 txBox="1"/>
          <p:nvPr/>
        </p:nvSpPr>
        <p:spPr>
          <a:xfrm>
            <a:off x="6080760" y="2377440"/>
            <a:ext cx="24688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Obras · NUEVO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DCE4EE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 txBox="1"/>
          <p:nvPr/>
        </p:nvSpPr>
        <p:spPr>
          <a:xfrm>
            <a:off x="457200" y="3474720"/>
            <a:ext cx="1920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Flyway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PgBouncer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0" y="3474720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DCE4EE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 txBox="1"/>
          <p:nvPr/>
        </p:nvSpPr>
        <p:spPr>
          <a:xfrm>
            <a:off x="2560320" y="3474720"/>
            <a:ext cx="13716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0" y="3474720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DCE4EE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 txBox="1"/>
          <p:nvPr/>
        </p:nvSpPr>
        <p:spPr>
          <a:xfrm>
            <a:off x="4114800" y="3474720"/>
            <a:ext cx="13716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0" y="3474720"/>
            <a:ext cx="3017520" cy="685800"/>
          </a:xfrm>
          <a:prstGeom prst="roundRect">
            <a:avLst>
              <a:gd name="adj" fmla="val 8000"/>
            </a:avLst>
          </a:prstGeom>
          <a:solidFill>
            <a:srgbClr val="DCE4EE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 txBox="1"/>
          <p:nvPr/>
        </p:nvSpPr>
        <p:spPr>
          <a:xfrm>
            <a:off x="5669280" y="3474720"/>
            <a:ext cx="30175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Grafana · Loki · Zipkin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Despliegue: Docker Compose en VPS · CI/CD con GitHub Actions · HTTPS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 ERP · Proyecto APT · Capstone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Competencias del perfil de egreso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competencia se aplica en una etapa concreta del proyecto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68580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soluciones de software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50876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3291840" y="15087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· 4.2 · 4.3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39112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módulo de Obras, integrarlo con los servicios e implantarlo con CI/CD.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489204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modelos de datos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0" y="150876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7498080" y="15087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· 3.2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039112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el modelo del módulo e implementarlo con migraciones Flyway escalables.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68580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Realizar pruebas de certificación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315468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3291840" y="31546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· 1.2 · 1.3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685032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ISTQB/ISO 25010; pruebas unitarias, E2E, carga y seguridad; mejoras.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489204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Gestionar proyectos informáticos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98080" y="315468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7498080" y="31546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· 2.2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3685032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 con Scrum y controlar con backlog, burndown y registro de riesgos.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 ERP · Proyecto APT · Capstone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Intereses profesionales y relevancia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y arquitectura cloud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904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Microservicios, contenedores, DevOps y observabilidad.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aplicada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5420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Navi: IA integrada a un producto de negocio real.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Emprendimiento tecnológico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5935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 se comercializará a través de SkyDigital.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0" y="1143000"/>
            <a:ext cx="3657600" cy="3291840"/>
          </a:xfrm>
          <a:prstGeom prst="roundRect">
            <a:avLst>
              <a:gd name="adj" fmla="val 222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530352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Relevancia para la carrera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178308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lo que hoy exige la industria del software: arquitectura distribuida, datos escalables, calidad certificada, DevOps e IA en productos SaaS.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5 años: liderar mi propia empresa de software o trabajar como arquitecto de soluciones cloud.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 ERP · Proyecto APT · Capstone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685800" y="10058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Implantar una versión productiva y certificada de JAMS ERP para contratistas de la Región Metropolitana, validada con pruebas de calidad y un piloto con usuarios reales.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y documentar requerimientos con contratistas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70632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457200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770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el modelo de datos de Obras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92424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457200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3924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 integrar el módulo de Gestión de Obras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014216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45720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0142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pruebas de certificación (≥ 70 % cobertura)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2148840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466344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Implantar en la nube con CI/CD y monitoreo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70632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 txBox="1"/>
          <p:nvPr/>
        </p:nvSpPr>
        <p:spPr>
          <a:xfrm>
            <a:off x="4663440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2770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 3 contratistas e incorporar mejoras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3392424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4663440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166360" y="33924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 y controlar el proyecto con Scrum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 ERP · Proyecto APT · Capstone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Metodología: Scrum + DevOps + ISTQB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adaptado a un integrante · 6 sprints de 2 semanas en la Fase 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76809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777240" y="1591056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777240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574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8716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S1–S4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591056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2194560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20574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y diseño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248716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S5–S6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11880" y="1591056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3611880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20574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Construcción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248716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S7–S12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1591056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5029200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20574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248716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S9–S14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46520" y="1591056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6446520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20574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Implantación y piloto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248716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S13–S16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863840" y="1591056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 txBox="1"/>
          <p:nvPr/>
        </p:nvSpPr>
        <p:spPr>
          <a:xfrm>
            <a:off x="7863840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543800" y="20574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543800" y="248716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S16–S18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97180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 txBox="1"/>
          <p:nvPr/>
        </p:nvSpPr>
        <p:spPr>
          <a:xfrm>
            <a:off x="640080" y="30906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456432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Yo: Product Owner, Scrum Master y desarrollador. Docente: stakeholder. Pintor de los Cielos: usuario clave.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46120" y="297180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 txBox="1"/>
          <p:nvPr/>
        </p:nvSpPr>
        <p:spPr>
          <a:xfrm>
            <a:off x="3429000" y="30906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Artefactos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429000" y="3456432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MoSCoW en GitHub Projects, sprint backlog, incremento, burndown y registro de riesgos.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35040" y="297180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6217920" y="30906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217920" y="3456432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ISTQB + ISO/IEC 25010: JUnit, Testcontainers, Playwright, k6 y OWASP ZAP.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 ERP · Proyecto APT · Capstone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trabajo: Carta Gantt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semanas · Fase 1 (S1–S4) · Fase 2 (S5–S15) · Fase 3 (S16–S18)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743200" y="1188720"/>
            <a:ext cx="33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073400" y="1188720"/>
            <a:ext cx="33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403600" y="1188720"/>
            <a:ext cx="33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733800" y="1188720"/>
            <a:ext cx="33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064000" y="1188720"/>
            <a:ext cx="33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394200" y="1188720"/>
            <a:ext cx="33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724400" y="1188720"/>
            <a:ext cx="33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054600" y="1188720"/>
            <a:ext cx="33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384800" y="1188720"/>
            <a:ext cx="33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1188720"/>
            <a:ext cx="33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045200" y="1188720"/>
            <a:ext cx="33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375400" y="1188720"/>
            <a:ext cx="33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705600" y="1188720"/>
            <a:ext cx="33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035800" y="1188720"/>
            <a:ext cx="33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366000" y="1188720"/>
            <a:ext cx="33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696200" y="1188720"/>
            <a:ext cx="33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26400" y="1188720"/>
            <a:ext cx="33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356600" y="1188720"/>
            <a:ext cx="33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1463040"/>
            <a:ext cx="1320800" cy="2834640"/>
          </a:xfrm>
          <a:prstGeom prst="rect">
            <a:avLst/>
          </a:prstGeom>
          <a:solidFill>
            <a:srgbClr val="E8EDF3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4064000" y="1463040"/>
            <a:ext cx="36322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7696200" y="1463040"/>
            <a:ext cx="990600" cy="2834640"/>
          </a:xfrm>
          <a:prstGeom prst="rect">
            <a:avLst/>
          </a:prstGeom>
          <a:solidFill>
            <a:srgbClr val="E8EDF3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 txBox="1"/>
          <p:nvPr/>
        </p:nvSpPr>
        <p:spPr>
          <a:xfrm>
            <a:off x="457200" y="146304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proyecto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61488" y="1527048"/>
            <a:ext cx="1284224" cy="155448"/>
          </a:xfrm>
          <a:prstGeom prst="roundRect">
            <a:avLst>
              <a:gd name="adj" fmla="val 2941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 txBox="1"/>
          <p:nvPr/>
        </p:nvSpPr>
        <p:spPr>
          <a:xfrm>
            <a:off x="457200" y="1746504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y backlog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082288" y="1810512"/>
            <a:ext cx="623824" cy="155448"/>
          </a:xfrm>
          <a:prstGeom prst="roundRect">
            <a:avLst>
              <a:gd name="adj" fmla="val 29412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 txBox="1"/>
          <p:nvPr/>
        </p:nvSpPr>
        <p:spPr>
          <a:xfrm>
            <a:off x="457200" y="202996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12488" y="2093976"/>
            <a:ext cx="623824" cy="155448"/>
          </a:xfrm>
          <a:prstGeom prst="roundRect">
            <a:avLst>
              <a:gd name="adj" fmla="val 29412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 txBox="1"/>
          <p:nvPr/>
        </p:nvSpPr>
        <p:spPr>
          <a:xfrm>
            <a:off x="457200" y="231343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backend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42688" y="2377440"/>
            <a:ext cx="1284224" cy="155448"/>
          </a:xfrm>
          <a:prstGeom prst="roundRect">
            <a:avLst>
              <a:gd name="adj" fmla="val 29412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 txBox="1"/>
          <p:nvPr/>
        </p:nvSpPr>
        <p:spPr>
          <a:xfrm>
            <a:off x="457200" y="259689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frontend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03088" y="2660904"/>
            <a:ext cx="954024" cy="155448"/>
          </a:xfrm>
          <a:prstGeom prst="roundRect">
            <a:avLst>
              <a:gd name="adj" fmla="val 29412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 txBox="1"/>
          <p:nvPr/>
        </p:nvSpPr>
        <p:spPr>
          <a:xfrm>
            <a:off x="457200" y="288036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733288" y="2944368"/>
            <a:ext cx="954024" cy="155448"/>
          </a:xfrm>
          <a:prstGeom prst="roundRect">
            <a:avLst>
              <a:gd name="adj" fmla="val 29412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 txBox="1"/>
          <p:nvPr/>
        </p:nvSpPr>
        <p:spPr>
          <a:xfrm>
            <a:off x="457200" y="3163824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 ejecución de pruebas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403088" y="3227832"/>
            <a:ext cx="1614424" cy="155448"/>
          </a:xfrm>
          <a:prstGeom prst="roundRect">
            <a:avLst>
              <a:gd name="adj" fmla="val 29412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 txBox="1"/>
          <p:nvPr/>
        </p:nvSpPr>
        <p:spPr>
          <a:xfrm>
            <a:off x="457200" y="344728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e implantación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723888" y="3511296"/>
            <a:ext cx="623824" cy="155448"/>
          </a:xfrm>
          <a:prstGeom prst="roundRect">
            <a:avLst>
              <a:gd name="adj" fmla="val 29412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 txBox="1"/>
          <p:nvPr/>
        </p:nvSpPr>
        <p:spPr>
          <a:xfrm>
            <a:off x="457200" y="373075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con usuarios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054088" y="3794760"/>
            <a:ext cx="954024" cy="155448"/>
          </a:xfrm>
          <a:prstGeom prst="roundRect">
            <a:avLst>
              <a:gd name="adj" fmla="val 29412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 txBox="1"/>
          <p:nvPr/>
        </p:nvSpPr>
        <p:spPr>
          <a:xfrm>
            <a:off x="457200" y="401421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presentación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714488" y="4078224"/>
            <a:ext cx="954024" cy="155448"/>
          </a:xfrm>
          <a:prstGeom prst="roundRect">
            <a:avLst>
              <a:gd name="adj" fmla="val 2941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Text 4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Hitos: informe de avance (S10) · sistema en producción (S14) · informe final (S18)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 ERP · Proyecto APT · Capstone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verificables que demuestran el logro de cada actividad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7315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DE AVANCE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e historias de usuario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(MER + migraciones Flyway)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GitHub con incremento y CI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y casos de prueba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Scrum, burndown y riesgos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493776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FINAL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8288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resultados de pruebas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en producción (URL + CI/CD + Grafana)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del piloto (encuesta SUS)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final, manual, video demo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 ERP · Proyecto APT · Capstone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Factibilidad: facilitadores y riesgos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926080" cy="35661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68580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Facilitadores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2560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del sistema ya construida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piloto propio y acceso a contratistas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gratuitas; VPS &lt; USD 10/mes financiado por SkyDigital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previa en el stack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097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097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0" y="1463040"/>
            <a:ext cx="5029200" cy="676656"/>
          </a:xfrm>
          <a:prstGeom prst="roundRect">
            <a:avLst>
              <a:gd name="adj" fmla="val 8108"/>
            </a:avLst>
          </a:prstGeom>
          <a:solidFill>
            <a:srgbClr val="E8EDF3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3794760" y="1463040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individual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1463040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acotado a 1 módulo, MoSCoW y bloques fijos semanales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0" y="2249424"/>
            <a:ext cx="502920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3794760" y="2249424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de usuarios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2249424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agendadas, cortas y con datos precargados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3035808"/>
            <a:ext cx="5029200" cy="676656"/>
          </a:xfrm>
          <a:prstGeom prst="roundRect">
            <a:avLst>
              <a:gd name="adj" fmla="val 8108"/>
            </a:avLst>
          </a:prstGeom>
          <a:solidFill>
            <a:srgbClr val="E8EDF3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3794760" y="3035808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 RAM (8–9 GB)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303580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de Docker Compose y VPS dimensionado con k6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0" y="3822192"/>
            <a:ext cx="502920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3794760" y="3822192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API de IA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3822192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errores y respuesta alternativa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 ERP · Proyecto APT · Capstone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377440"/>
            <a:ext cx="4114800" cy="4114800"/>
          </a:xfrm>
          <a:prstGeom prst="ellipse">
            <a:avLst/>
          </a:prstGeom>
          <a:solidFill>
            <a:srgbClr val="1D2E52"/>
          </a:solidFill>
          <a:ln w="12700">
            <a:solidFill>
              <a:srgbClr val="1D2E5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prototipo a producto real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 ERP resolverá un problema que vivo como contratista, aplicando las cuatro competencias del perfil de egreso y dejando un sistema certificado y en producción con usuarios reales.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 · Preguntas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1741</Words>
  <Application>Microsoft Office PowerPoint</Application>
  <PresentationFormat>Presentación en pantalla (16:9)</PresentationFormat>
  <Paragraphs>228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APT - JAMS ERP</dc:title>
  <dc:subject>PptxGenJS Presentation</dc:subject>
  <dc:creator>PptxGenJS</dc:creator>
  <cp:lastModifiedBy>JULIAN ALEXANDER MENESES SANTACRUZ</cp:lastModifiedBy>
  <cp:revision>2</cp:revision>
  <dcterms:created xsi:type="dcterms:W3CDTF">2026-09-21T21:31:56Z</dcterms:created>
  <dcterms:modified xsi:type="dcterms:W3CDTF">2026-09-21T23:22:42Z</dcterms:modified>
</cp:coreProperties>
</file>